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RTE Accuracy (%)</c:v>
                </c:pt>
              </c:strCache>
            </c:strRef>
          </c:tx>
          <c:spPr>
            <a:solidFill>
              <a:srgbClr val="1A27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27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Full FT
124.6M</c:v>
                  </c:pt>
                  <c:pt idx="1">
                    <c:v>BitFit
0.08M</c:v>
                  </c:pt>
                  <c:pt idx="2">
                    <c:v>LoRA
0.89M</c:v>
                  </c:pt>
                  <c:pt idx="3">
                    <c:v>AdaLoRA
1.03M</c:v>
                  </c:pt>
                  <c:pt idx="4">
                    <c:v>RoCoFT-3R
0.25M</c:v>
                  </c:pt>
                  <c:pt idx="5">
                    <c:v>Prefix
0.96M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72.43</c:v>
                </c:pt>
                <c:pt idx="1">
                  <c:v>77.98</c:v>
                </c:pt>
                <c:pt idx="2">
                  <c:v>74.92</c:v>
                </c:pt>
                <c:pt idx="3">
                  <c:v>76.04</c:v>
                </c:pt>
                <c:pt idx="4">
                  <c:v>78.31</c:v>
                </c:pt>
                <c:pt idx="5">
                  <c:v>54.51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40"/>
        </c:scaling>
        <c:delete val="0"/>
        <c:axPos val="l"/>
        <c:majorGridlines>
          <c:spPr>
            <a:ln w="6350" cap="flat">
              <a:solidFill>
                <a:srgbClr val="2D4A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E3A5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PEFT A2Z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365760" y="16002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Parameter-Efficient Fine-Tuning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21488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Large Language and Vision Models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834640"/>
            <a:ext cx="50292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Prottasha et al. (2025)  |  arXiv:2504.14117v1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3611880"/>
            <a:ext cx="256032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3657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EEAD4"/>
                </a:solidFill>
              </a:rPr>
              <a:t>200+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PEFT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Methods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3611880"/>
            <a:ext cx="256032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1840" y="3657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EEAD4"/>
                </a:solidFill>
              </a:rPr>
              <a:t>5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91840" y="41148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Method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Families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3611880"/>
            <a:ext cx="256032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3657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EEAD4"/>
                </a:solidFill>
              </a:rPr>
              <a:t>2019–2025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126480" y="41148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Time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Span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Full Fine-Tuning is Broken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1508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097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</a:rPr>
              <a:t>💾  Memory Wall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" y="15087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Fine-tuning LLaMA-3 requires 400+ GB of GPU memory — hundreds of A100s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100584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1005840"/>
            <a:ext cx="109728" cy="1508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01768" y="1097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</a:rPr>
              <a:t>🔥  Catastrophic Forgetting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01768" y="15087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Updating all parameters erases general pre-trained knowledge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743200"/>
            <a:ext cx="109728" cy="1508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8346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</a:rPr>
              <a:t>📦  Storage Explosion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8368" y="32461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Each new task requires a full copy of the 300B+ parameter model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0" y="274320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2743200"/>
            <a:ext cx="109728" cy="1508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01768" y="28346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</a:rPr>
              <a:t>📉  Overfitting Risk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01768" y="32461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On small task datasets, full fine-tuning memorizes rather than generalizes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54456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EAD4"/>
                </a:solidFill>
              </a:rPr>
              <a:t>PEFT asks: Do we really need to update all parameters?  →  The answer is no.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Families of PEFT Methods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60120"/>
            <a:ext cx="1572768" cy="3840480"/>
          </a:xfrm>
          <a:prstGeom prst="rect">
            <a:avLst/>
          </a:prstGeom>
          <a:solidFill>
            <a:srgbClr val="1E3A5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1572768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Additive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7472" y="1600200"/>
            <a:ext cx="1426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Add new trainable modules;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freeze original weights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84048" y="2487168"/>
            <a:ext cx="1353312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2606040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EEAD4"/>
                </a:solidFill>
              </a:rPr>
              <a:t>Key methods: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7472" y="2880360"/>
            <a:ext cx="1426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Adapters, AdapterFusion,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ViT-Adapter, K-Adapter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993392" y="960120"/>
            <a:ext cx="1572768" cy="3840480"/>
          </a:xfrm>
          <a:prstGeom prst="rect">
            <a:avLst/>
          </a:prstGeom>
          <a:solidFill>
            <a:srgbClr val="1E3A5F"/>
          </a:solidFill>
          <a:ln w="254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93392" y="960120"/>
            <a:ext cx="1572768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39112" y="1005840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Selective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66544" y="1600200"/>
            <a:ext cx="1426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Choose existing params to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update; freeze the rest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103120" y="2487168"/>
            <a:ext cx="1353312" cy="274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66544" y="2606040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EEAD4"/>
                </a:solidFill>
              </a:rPr>
              <a:t>Key methods: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066544" y="2880360"/>
            <a:ext cx="1426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BitFit, FishMask,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RoCoFT, Child-Tuning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712464" y="960120"/>
            <a:ext cx="1572768" cy="3840480"/>
          </a:xfrm>
          <a:prstGeom prst="rect">
            <a:avLst/>
          </a:prstGeom>
          <a:solidFill>
            <a:srgbClr val="1E3A5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12464" y="960120"/>
            <a:ext cx="1572768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58184" y="1005840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Reparameterized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785616" y="1600200"/>
            <a:ext cx="1426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Express weight updates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in compact form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822192" y="2487168"/>
            <a:ext cx="1353312" cy="27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85616" y="2606040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EEAD4"/>
                </a:solidFill>
              </a:rPr>
              <a:t>Key methods: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785616" y="2880360"/>
            <a:ext cx="1426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LoRA, AdaLoRA, DyLoRA,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QLoRA, SVDQUANT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31536" y="960120"/>
            <a:ext cx="1572768" cy="3840480"/>
          </a:xfrm>
          <a:prstGeom prst="rect">
            <a:avLst/>
          </a:prstGeom>
          <a:solidFill>
            <a:srgbClr val="1E3A5F"/>
          </a:solidFill>
          <a:ln w="254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31536" y="960120"/>
            <a:ext cx="1572768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77256" y="1005840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Hybrid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04688" y="1600200"/>
            <a:ext cx="1426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Combine multiple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strategies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541264" y="2487168"/>
            <a:ext cx="1353312" cy="274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04688" y="2606040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EEAD4"/>
                </a:solidFill>
              </a:rPr>
              <a:t>Key methods: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504688" y="2880360"/>
            <a:ext cx="1426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UniPELT, MAM Adapter,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RoSA, Hydra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150608" y="960120"/>
            <a:ext cx="1572768" cy="3840480"/>
          </a:xfrm>
          <a:prstGeom prst="rect">
            <a:avLst/>
          </a:prstGeom>
          <a:solidFill>
            <a:srgbClr val="1E3A5F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150608" y="960120"/>
            <a:ext cx="1572768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96328" y="1005840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MoE-Based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223760" y="1600200"/>
            <a:ext cx="1426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Route inputs to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specialized experts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260336" y="2487168"/>
            <a:ext cx="1353312" cy="274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23760" y="2606040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EEAD4"/>
                </a:solidFill>
              </a:rPr>
              <a:t>Key methods: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223760" y="2880360"/>
            <a:ext cx="1426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MoE LoRA, MixLoRA,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MoLoRA, MOA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</a:rPr>
              <a:t>LoRA: The Reigning Champion of PEFT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3840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875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</a:rPr>
              <a:t>How LoRA Works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1508760"/>
            <a:ext cx="1463040" cy="822960"/>
          </a:xfrm>
          <a:prstGeom prst="rect">
            <a:avLst/>
          </a:prstGeom>
          <a:solidFill>
            <a:srgbClr val="CBD5E1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0876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W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(frozen)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0" y="1920240"/>
            <a:ext cx="3200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560320"/>
            <a:ext cx="640080" cy="640080"/>
          </a:xfrm>
          <a:prstGeom prst="rect">
            <a:avLst/>
          </a:prstGeom>
          <a:solidFill>
            <a:srgbClr val="C7D2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3AED"/>
                </a:solidFill>
              </a:rPr>
              <a:t>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C3AED"/>
                </a:solidFill>
              </a:rPr>
              <a:t>(r×d)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600200" y="2560320"/>
            <a:ext cx="640080" cy="640080"/>
          </a:xfrm>
          <a:prstGeom prst="rect">
            <a:avLst/>
          </a:prstGeom>
          <a:solidFill>
            <a:srgbClr val="C7D2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00200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3AED"/>
                </a:solidFill>
              </a:rPr>
              <a:t>B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C3AED"/>
                </a:solidFill>
              </a:rPr>
              <a:t>(d×r)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3337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ΔW = A × B  (trainable)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703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h = Wx + BAx  (final output)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91440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914400"/>
            <a:ext cx="9144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9601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</a:rPr>
              <a:t>Parameter Reduction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36592" y="1207008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Rank r=8 reduces d²=16.7M params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to 2dr=65K — a 256× reduction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0" y="182880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1828800"/>
            <a:ext cx="9144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18745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</a:rPr>
              <a:t>Zero Overhead at Inference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36592" y="2121408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ΔW=AB is merged into W after training.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No additional computation needed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0" y="274320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0" y="2743200"/>
            <a:ext cx="9144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36592" y="27889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</a:rPr>
              <a:t>Warm Start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36592" y="3035808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B=0 at init → ΔW=0 initially.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Model starts from pretrained state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0" y="365760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0" y="3657600"/>
            <a:ext cx="9144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36592" y="37033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</a:rPr>
              <a:t>Key Variants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36592" y="3950208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AdaLoRA (adaptive rank)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DyLoRA (dynamic rank)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QLoRA (4-bit quantization)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How Well Do They Actually Perform?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680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BD5E1"/>
                </a:solidFill>
              </a:rPr>
              <a:t>GLUE Benchmark — RoBERTa-Base  |  Paper Table 1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097280"/>
          <a:ext cx="51206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15000" y="1097280"/>
            <a:ext cx="3017520" cy="1051560"/>
          </a:xfrm>
          <a:prstGeom prst="rect">
            <a:avLst/>
          </a:prstGeom>
          <a:solidFill>
            <a:srgbClr val="1E3A5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806440" y="11430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EEAD4"/>
                </a:solidFill>
              </a:rPr>
              <a:t>77.98%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806440" y="157276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BitFit on RTE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806440" y="180136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vs 72.43% full FT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using 0.08M params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715000" y="2331720"/>
            <a:ext cx="3017520" cy="1051560"/>
          </a:xfrm>
          <a:prstGeom prst="rect">
            <a:avLst/>
          </a:prstGeom>
          <a:solidFill>
            <a:srgbClr val="1E3A5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806440" y="23774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EEAD4"/>
                </a:solidFill>
              </a:rPr>
              <a:t>78.31%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5806440" y="280720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RoCoFT on RTE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806440" y="303580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vs 72.43% full FT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using 0.25M params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715000" y="3566160"/>
            <a:ext cx="3017520" cy="1051560"/>
          </a:xfrm>
          <a:prstGeom prst="rect">
            <a:avLst/>
          </a:prstGeom>
          <a:solidFill>
            <a:srgbClr val="1E3A5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806440" y="36118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EEAD4"/>
                </a:solidFill>
              </a:rPr>
              <a:t>256×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5806440" y="404164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LoRA compression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06440" y="427024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for rank-8 on 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4096-dim layer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</a:rPr>
              <a:t>Where PEFT Is Making an Impact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3931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393192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🗣️  NLP: Language Tasks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Sentiment, translation,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summarization, dialogue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ChatLLM with Propulsion for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custom chat models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17720" y="960120"/>
            <a:ext cx="3931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960120"/>
            <a:ext cx="393192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👁️  Vision: Computer Vision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150876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Image classification,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object detection, segmentation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Medical imaging with minimal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labeled data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971800"/>
            <a:ext cx="3931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971800"/>
            <a:ext cx="393192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017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🎬  Multimodal: Vision + Language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52044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CLIP, BLIP, LLaVA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X2L: Image + Video + Audio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I-Adapter, V-Adapter,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S-Adapter architecture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17720" y="2971800"/>
            <a:ext cx="3931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2971800"/>
            <a:ext cx="393192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3017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🤖  Robotics: Robot Control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352044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RT-2, SayCan: language-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guided robot manipulation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Sim-to-real transfer with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Lightweight LoRA modules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Computational Cost Comparison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14400"/>
            <a:ext cx="2286000" cy="512064"/>
          </a:xfrm>
          <a:prstGeom prst="rect">
            <a:avLst/>
          </a:prstGeom>
          <a:solidFill>
            <a:srgbClr val="0D9488"/>
          </a:solidFill>
          <a:ln w="6350">
            <a:solidFill>
              <a:srgbClr val="2D4A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Method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78608" y="914400"/>
            <a:ext cx="2103120" cy="512064"/>
          </a:xfrm>
          <a:prstGeom prst="rect">
            <a:avLst/>
          </a:prstGeom>
          <a:solidFill>
            <a:srgbClr val="0D9488"/>
          </a:solidFill>
          <a:ln w="6350">
            <a:solidFill>
              <a:srgbClr val="2D4A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70048" y="10058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Space Complexity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0016" y="914400"/>
            <a:ext cx="2103120" cy="512064"/>
          </a:xfrm>
          <a:prstGeom prst="rect">
            <a:avLst/>
          </a:prstGeom>
          <a:solidFill>
            <a:srgbClr val="0D9488"/>
          </a:solidFill>
          <a:ln w="6350">
            <a:solidFill>
              <a:srgbClr val="2D4A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91456" y="10058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Time Complexity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21424" y="914400"/>
            <a:ext cx="2286000" cy="512064"/>
          </a:xfrm>
          <a:prstGeom prst="rect">
            <a:avLst/>
          </a:prstGeom>
          <a:solidFill>
            <a:srgbClr val="0D9488"/>
          </a:solidFill>
          <a:ln w="6350">
            <a:solidFill>
              <a:srgbClr val="2D4A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12864" y="10058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Trainable Params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463040"/>
            <a:ext cx="2286000" cy="512064"/>
          </a:xfrm>
          <a:prstGeom prst="rect">
            <a:avLst/>
          </a:prstGeom>
          <a:solidFill>
            <a:srgbClr val="16325A"/>
          </a:solidFill>
          <a:ln w="6350">
            <a:solidFill>
              <a:srgbClr val="2D4A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5544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Full Fine-Tuning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78608" y="1463040"/>
            <a:ext cx="2103120" cy="512064"/>
          </a:xfrm>
          <a:prstGeom prst="rect">
            <a:avLst/>
          </a:prstGeom>
          <a:solidFill>
            <a:srgbClr val="16325A"/>
          </a:solidFill>
          <a:ln w="6350">
            <a:solidFill>
              <a:srgbClr val="2D4A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70048" y="15544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O(d × d)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0016" y="1463040"/>
            <a:ext cx="2103120" cy="512064"/>
          </a:xfrm>
          <a:prstGeom prst="rect">
            <a:avLst/>
          </a:prstGeom>
          <a:solidFill>
            <a:srgbClr val="16325A"/>
          </a:solidFill>
          <a:ln w="6350">
            <a:solidFill>
              <a:srgbClr val="2D4A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456" y="15544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O(d × d)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21424" y="1463040"/>
            <a:ext cx="2286000" cy="512064"/>
          </a:xfrm>
          <a:prstGeom prst="rect">
            <a:avLst/>
          </a:prstGeom>
          <a:solidFill>
            <a:srgbClr val="16325A"/>
          </a:solidFill>
          <a:ln w="6350">
            <a:solidFill>
              <a:srgbClr val="2D4A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12864" y="15544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d² (all)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011680"/>
            <a:ext cx="2286000" cy="512064"/>
          </a:xfrm>
          <a:prstGeom prst="rect">
            <a:avLst/>
          </a:prstGeom>
          <a:solidFill>
            <a:srgbClr val="1E3A5F"/>
          </a:solidFill>
          <a:ln w="6350">
            <a:solidFill>
              <a:srgbClr val="2D4A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1031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Adapter (IA³)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78608" y="2011680"/>
            <a:ext cx="2103120" cy="512064"/>
          </a:xfrm>
          <a:prstGeom prst="rect">
            <a:avLst/>
          </a:prstGeom>
          <a:solidFill>
            <a:srgbClr val="1E3A5F"/>
          </a:solidFill>
          <a:ln w="6350">
            <a:solidFill>
              <a:srgbClr val="2D4A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70048" y="2103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O(3d)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0016" y="2011680"/>
            <a:ext cx="2103120" cy="512064"/>
          </a:xfrm>
          <a:prstGeom prst="rect">
            <a:avLst/>
          </a:prstGeom>
          <a:solidFill>
            <a:srgbClr val="1E3A5F"/>
          </a:solidFill>
          <a:ln w="6350">
            <a:solidFill>
              <a:srgbClr val="2D4A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91456" y="2103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O(3d)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21424" y="2011680"/>
            <a:ext cx="2286000" cy="512064"/>
          </a:xfrm>
          <a:prstGeom prst="rect">
            <a:avLst/>
          </a:prstGeom>
          <a:solidFill>
            <a:srgbClr val="1E3A5F"/>
          </a:solidFill>
          <a:ln w="6350">
            <a:solidFill>
              <a:srgbClr val="2D4A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12864" y="21031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3d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2560320"/>
            <a:ext cx="2286000" cy="512064"/>
          </a:xfrm>
          <a:prstGeom prst="rect">
            <a:avLst/>
          </a:prstGeom>
          <a:solidFill>
            <a:srgbClr val="16325A"/>
          </a:solidFill>
          <a:ln w="6350">
            <a:solidFill>
              <a:srgbClr val="2D4A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651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LoRA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578608" y="2560320"/>
            <a:ext cx="2103120" cy="512064"/>
          </a:xfrm>
          <a:prstGeom prst="rect">
            <a:avLst/>
          </a:prstGeom>
          <a:solidFill>
            <a:srgbClr val="16325A"/>
          </a:solidFill>
          <a:ln w="6350">
            <a:solidFill>
              <a:srgbClr val="2D4A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70048" y="26517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O((d+d)×r)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0016" y="2560320"/>
            <a:ext cx="2103120" cy="512064"/>
          </a:xfrm>
          <a:prstGeom prst="rect">
            <a:avLst/>
          </a:prstGeom>
          <a:solidFill>
            <a:srgbClr val="16325A"/>
          </a:solidFill>
          <a:ln w="6350">
            <a:solidFill>
              <a:srgbClr val="2D4A7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91456" y="26517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O((d+d)×r)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821424" y="2560320"/>
            <a:ext cx="2286000" cy="512064"/>
          </a:xfrm>
          <a:prstGeom prst="rect">
            <a:avLst/>
          </a:prstGeom>
          <a:solidFill>
            <a:srgbClr val="16325A"/>
          </a:solidFill>
          <a:ln w="6350">
            <a:solidFill>
              <a:srgbClr val="2D4A7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12864" y="2651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2dr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3108960"/>
            <a:ext cx="2286000" cy="512064"/>
          </a:xfrm>
          <a:prstGeom prst="rect">
            <a:avLst/>
          </a:prstGeom>
          <a:solidFill>
            <a:srgbClr val="1E3A5F"/>
          </a:solidFill>
          <a:ln w="6350">
            <a:solidFill>
              <a:srgbClr val="2D4A7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2004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AdaLoRA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578608" y="3108960"/>
            <a:ext cx="2103120" cy="512064"/>
          </a:xfrm>
          <a:prstGeom prst="rect">
            <a:avLst/>
          </a:prstGeom>
          <a:solidFill>
            <a:srgbClr val="1E3A5F"/>
          </a:solidFill>
          <a:ln w="6350">
            <a:solidFill>
              <a:srgbClr val="2D4A7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70048" y="32004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O((2d+r)×r)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00016" y="3108960"/>
            <a:ext cx="2103120" cy="512064"/>
          </a:xfrm>
          <a:prstGeom prst="rect">
            <a:avLst/>
          </a:prstGeom>
          <a:solidFill>
            <a:srgbClr val="1E3A5F"/>
          </a:solidFill>
          <a:ln w="6350">
            <a:solidFill>
              <a:srgbClr val="2D4A7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91456" y="32004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O((2d+r)×r)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821424" y="3108960"/>
            <a:ext cx="2286000" cy="512064"/>
          </a:xfrm>
          <a:prstGeom prst="rect">
            <a:avLst/>
          </a:prstGeom>
          <a:solidFill>
            <a:srgbClr val="1E3A5F"/>
          </a:solidFill>
          <a:ln w="6350">
            <a:solidFill>
              <a:srgbClr val="2D4A7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12864" y="32004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2dr + r²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74320" y="3657600"/>
            <a:ext cx="2286000" cy="512064"/>
          </a:xfrm>
          <a:prstGeom prst="rect">
            <a:avLst/>
          </a:prstGeom>
          <a:solidFill>
            <a:srgbClr val="16325A"/>
          </a:solidFill>
          <a:ln w="6350">
            <a:solidFill>
              <a:srgbClr val="2D4A7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37490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RoCoFT (Row)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578608" y="3657600"/>
            <a:ext cx="2103120" cy="512064"/>
          </a:xfrm>
          <a:prstGeom prst="rect">
            <a:avLst/>
          </a:prstGeom>
          <a:solidFill>
            <a:srgbClr val="16325A"/>
          </a:solidFill>
          <a:ln w="6350">
            <a:solidFill>
              <a:srgbClr val="2D4A7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70048" y="37490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O(d×r)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700016" y="3657600"/>
            <a:ext cx="2103120" cy="512064"/>
          </a:xfrm>
          <a:prstGeom prst="rect">
            <a:avLst/>
          </a:prstGeom>
          <a:solidFill>
            <a:srgbClr val="16325A"/>
          </a:solidFill>
          <a:ln w="6350">
            <a:solidFill>
              <a:srgbClr val="2D4A7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91456" y="37490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O(d×r)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821424" y="3657600"/>
            <a:ext cx="2286000" cy="512064"/>
          </a:xfrm>
          <a:prstGeom prst="rect">
            <a:avLst/>
          </a:prstGeom>
          <a:solidFill>
            <a:srgbClr val="16325A"/>
          </a:solidFill>
          <a:ln w="6350">
            <a:solidFill>
              <a:srgbClr val="2D4A7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12864" y="37490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rd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74320" y="4206240"/>
            <a:ext cx="2286000" cy="512064"/>
          </a:xfrm>
          <a:prstGeom prst="rect">
            <a:avLst/>
          </a:prstGeom>
          <a:solidFill>
            <a:srgbClr val="1E3A5F"/>
          </a:solidFill>
          <a:ln w="6350">
            <a:solidFill>
              <a:srgbClr val="2D4A7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42976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Propulsion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578608" y="4206240"/>
            <a:ext cx="2103120" cy="512064"/>
          </a:xfrm>
          <a:prstGeom prst="rect">
            <a:avLst/>
          </a:prstGeom>
          <a:solidFill>
            <a:srgbClr val="1E3A5F"/>
          </a:solidFill>
          <a:ln w="6350">
            <a:solidFill>
              <a:srgbClr val="2D4A7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670048" y="42976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O(d)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700016" y="4206240"/>
            <a:ext cx="2103120" cy="512064"/>
          </a:xfrm>
          <a:prstGeom prst="rect">
            <a:avLst/>
          </a:prstGeom>
          <a:solidFill>
            <a:srgbClr val="1E3A5F"/>
          </a:solidFill>
          <a:ln w="6350">
            <a:solidFill>
              <a:srgbClr val="2D4A7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91456" y="42976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O(d)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821424" y="4206240"/>
            <a:ext cx="2286000" cy="512064"/>
          </a:xfrm>
          <a:prstGeom prst="rect">
            <a:avLst/>
          </a:prstGeom>
          <a:solidFill>
            <a:srgbClr val="1E3A5F"/>
          </a:solidFill>
          <a:ln w="6350">
            <a:solidFill>
              <a:srgbClr val="2D4A7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912864" y="42976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d  ← minimal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BD5E1"/>
                </a:solidFill>
              </a:rPr>
              <a:t>d = hidden dimension (e.g. 4096 for large models)  |  r = rank (e.g. 4–16)  |  Propulsion: linear in d — the most efficient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</a:rPr>
              <a:t>Where Is PEFT Heading?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75488" y="1051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75488" y="15087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</a:rPr>
              <a:t>Theoretical Grounding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1828800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Why does BitFit beat full FT? We don't have a rigorous answer. Information theory and loss landscape curvature could explain it.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55848" y="1051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355848" y="15087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</a:rPr>
              <a:t>Layer-Wise Sensitivity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55848" y="1828800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Not all layers need equal adaptation. Jacobian analysis to find where fine-tuning gives the best return per parameter.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96012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36208" y="1051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236208" y="15087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</a:rPr>
              <a:t>Federated PEFT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36208" y="1828800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Train adapter modules across distributed private devices. Aggregate only small adapter updates — never raw sensitive data.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8803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75488" y="34290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</a:rPr>
              <a:t>Continual Learning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" y="3749040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Real deployments keep evolving. Modular adapters per task + orthogonal subspace training prevents catastrophic forgetting.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28803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355848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355848" y="34290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</a:rPr>
              <a:t>Hardware-Aware PEFT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55848" y="3749040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Optimize for TPUs, NPUs, FPGAs. Measure carbon footprint, not just accuracy. Green AI practices.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28803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36208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</a:rPr>
              <a:t>06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236208" y="34290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</a:rPr>
              <a:t>Meta-PEFT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36208" y="3749040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Use RL or meta-learning to automatically discover the best PEFT strategy for a given model and task.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Autoresearch: What I Reproduced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4572000" cy="3931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058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</a:rPr>
              <a:t>Reproduced: Table 1, Section 6.1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GLUE Benchmark on RoBERTa-Base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Method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23160" y="17830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Params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91840" y="17830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SST-2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69080" y="17830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112264"/>
            <a:ext cx="4297680" cy="457200"/>
          </a:xfrm>
          <a:prstGeom prst="rect">
            <a:avLst/>
          </a:prstGeom>
          <a:solidFill>
            <a:srgbClr val="243D6B"/>
          </a:solidFill>
          <a:ln w="12700">
            <a:solidFill>
              <a:srgbClr val="2D4A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148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LoRA (rank=8)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23160" y="21488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</a:rPr>
              <a:t>0.89M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21488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93.31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069080" y="21488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74.92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615184"/>
            <a:ext cx="429768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2D4A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651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BitFit (bias only)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23160" y="26517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</a:rPr>
              <a:t>0.08M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91840" y="26517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93.12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069080" y="26517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77.98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118104"/>
            <a:ext cx="4297680" cy="457200"/>
          </a:xfrm>
          <a:prstGeom prst="rect">
            <a:avLst/>
          </a:prstGeom>
          <a:solidFill>
            <a:srgbClr val="243D6B"/>
          </a:solidFill>
          <a:ln w="12700">
            <a:solidFill>
              <a:srgbClr val="2D4A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154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Prefix Tuning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423160" y="315468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</a:rPr>
              <a:t>0.96M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91840" y="31546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93.81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069080" y="31546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54.51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352044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Using HuggingFace PEFT library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Model: roberta-base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Template: dlmastery/autoresearch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166360" y="914400"/>
            <a:ext cx="3657600" cy="3931920"/>
          </a:xfrm>
          <a:prstGeom prst="rect">
            <a:avLst/>
          </a:prstGeom>
          <a:solidFill>
            <a:srgbClr val="0F1A2E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57800" y="98755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peft_glue_reproduction.py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57800" y="1371600"/>
            <a:ext cx="3474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Apply LoRA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 = LoraConfig(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task_type=SEQ_CLS,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r=8, lora_alpha=16,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lora_dropout=0.1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get_peft_model(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model, config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Apply BitFit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name, param 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model.named_parameters():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'bias' not in name: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param.requires_grad=False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The Core Message of PEFT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F172A"/>
                </a:solidFill>
              </a:rPr>
              <a:t>You don't need to update everything to adapt everything.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2240280"/>
            <a:ext cx="4023360" cy="114300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23134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</a:rPr>
              <a:t>🏆  Performance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6517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PEFT methods match or beat full fine-tuning on most benchmarks — BitFit outperforms by 5+ points on RTE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2240280"/>
            <a:ext cx="4023360" cy="114300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00600" y="23134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</a:rPr>
              <a:t>⚡  Efficiency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00600" y="26517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0.08M–1M trainable parameters vs 124M+. One base model serves hundreds of tasks with tiny adapter files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566160"/>
            <a:ext cx="4023360" cy="114300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363931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</a:rPr>
              <a:t>🌍  Democratization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9776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QLoRA makes 70B model fine-tuning possible on a single consumer GPU. PEFT lowers the barrier to AI adaptation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3566160"/>
            <a:ext cx="4023360" cy="114300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0600" y="363931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</a:rPr>
              <a:t>🔮  Future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0600" y="39776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Federated PEFT, theoretical foundations, hardware-aware design — the field is rapidly maturing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Paper: arXiv:2504.14117v1  |  GitHub: github.com/Nusrat-Prottasha/PEFT-A2Z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PEFT A2Z: Parameter-Efficient Fine-Tuning Survey</dc:title>
  <dc:subject>PptxGenJS Presentation</dc:subject>
  <dc:creator>Short Story Assignment</dc:creator>
  <cp:lastModifiedBy>Short Story Assignment</cp:lastModifiedBy>
  <cp:revision>1</cp:revision>
  <dcterms:created xsi:type="dcterms:W3CDTF">2026-05-08T08:23:14Z</dcterms:created>
  <dcterms:modified xsi:type="dcterms:W3CDTF">2026-05-08T08:23:14Z</dcterms:modified>
</cp:coreProperties>
</file>